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6" r:id="rId2"/>
    <p:sldId id="257" r:id="rId3"/>
  </p:sldIdLst>
  <p:sldSz cx="9144000" cy="5143500" type="screen16x9"/>
  <p:notesSz cx="6858000" cy="9144000"/>
  <p:embeddedFontLst>
    <p:embeddedFont>
      <p:font typeface="Google Sans" panose="020B0604020202020204" charset="0"/>
      <p:regular r:id="rId5"/>
      <p:bold r:id="rId6"/>
      <p:italic r:id="rId7"/>
      <p:boldItalic r:id="rId8"/>
    </p:embeddedFont>
    <p:embeddedFont>
      <p:font typeface="Roboto" panose="02000000000000000000" pitchFamily="2"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9419f719b3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9419f719b3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e118e9c685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e118e9c68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311700" y="419550"/>
            <a:ext cx="7986000" cy="928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05"/>
              <a:buNone/>
            </a:pPr>
            <a:r>
              <a:rPr lang="en" sz="1790" b="1">
                <a:solidFill>
                  <a:schemeClr val="dk1"/>
                </a:solidFill>
                <a:latin typeface="Google Sans"/>
                <a:ea typeface="Google Sans"/>
                <a:cs typeface="Google Sans"/>
                <a:sym typeface="Google Sans"/>
              </a:rPr>
              <a:t>Has this file hash been reported as malicious? Explain why or why not.</a:t>
            </a:r>
            <a:endParaRPr sz="1790" b="1">
              <a:solidFill>
                <a:schemeClr val="dk1"/>
              </a:solidFill>
              <a:latin typeface="Google Sans"/>
              <a:ea typeface="Google Sans"/>
              <a:cs typeface="Google Sans"/>
              <a:sym typeface="Google Sans"/>
            </a:endParaRPr>
          </a:p>
          <a:p>
            <a:pPr marL="0" lvl="0" indent="0" algn="l" rtl="0">
              <a:lnSpc>
                <a:spcPct val="95000"/>
              </a:lnSpc>
              <a:spcBef>
                <a:spcPts val="1200"/>
              </a:spcBef>
              <a:spcAft>
                <a:spcPts val="0"/>
              </a:spcAft>
              <a:buSzPts val="605"/>
              <a:buNone/>
            </a:pPr>
            <a:endParaRPr sz="1790" b="1">
              <a:solidFill>
                <a:schemeClr val="dk1"/>
              </a:solidFill>
              <a:latin typeface="Google Sans"/>
              <a:ea typeface="Google Sans"/>
              <a:cs typeface="Google Sans"/>
              <a:sym typeface="Google Sans"/>
            </a:endParaRPr>
          </a:p>
          <a:p>
            <a:pPr marL="0" lvl="0" indent="0" algn="l" rtl="0">
              <a:lnSpc>
                <a:spcPct val="95000"/>
              </a:lnSpc>
              <a:spcBef>
                <a:spcPts val="1200"/>
              </a:spcBef>
              <a:spcAft>
                <a:spcPts val="1200"/>
              </a:spcAft>
              <a:buSzPts val="605"/>
              <a:buNone/>
            </a:pPr>
            <a:endParaRPr sz="1790" b="1">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104641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latin typeface="Google Sans"/>
                <a:ea typeface="Google Sans"/>
                <a:cs typeface="Google Sans"/>
                <a:sym typeface="Google Sans"/>
              </a:rPr>
              <a:t>The file hash has been reported as malicious by over 56 security vendors and 2 sandboxed when run in the VirusTotal application. Upon further investigation, this file hash is known as the malware Flagpro (a trojan), which has been commonly used by the advanced threat actor BlackTech.</a:t>
            </a:r>
            <a:endParaRPr dirty="0">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name="adj" fmla="val 50000"/>
              </a:avLst>
            </a:prstGeom>
            <a:solidFill>
              <a:schemeClr val="accent1"/>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14"/>
            <p:cNvCxnSpPr/>
            <p:nvPr/>
          </p:nvCxnSpPr>
          <p:spPr>
            <a:xfrm>
              <a:off x="2174888" y="1426450"/>
              <a:ext cx="1162500" cy="0"/>
            </a:xfrm>
            <a:prstGeom prst="straightConnector1">
              <a:avLst/>
            </a:prstGeom>
            <a:noFill/>
            <a:ln w="28575" cap="flat" cmpd="sng">
              <a:solidFill>
                <a:srgbClr val="FFFFFF"/>
              </a:solidFill>
              <a:prstDash val="solid"/>
              <a:round/>
              <a:headEnd type="none" w="med" len="med"/>
              <a:tailEnd type="none" w="med" len="med"/>
            </a:ln>
          </p:spPr>
        </p:cxnSp>
        <p:cxnSp>
          <p:nvCxnSpPr>
            <p:cNvPr id="63" name="Google Shape;63;p14"/>
            <p:cNvCxnSpPr/>
            <p:nvPr/>
          </p:nvCxnSpPr>
          <p:spPr>
            <a:xfrm>
              <a:off x="1714500" y="2214625"/>
              <a:ext cx="2094000" cy="0"/>
            </a:xfrm>
            <a:prstGeom prst="straightConnector1">
              <a:avLst/>
            </a:prstGeom>
            <a:noFill/>
            <a:ln w="28575" cap="flat" cmpd="sng">
              <a:solidFill>
                <a:srgbClr val="FFFFFF"/>
              </a:solidFill>
              <a:prstDash val="solid"/>
              <a:round/>
              <a:headEnd type="none" w="med" len="med"/>
              <a:tailEnd type="none" w="med" len="med"/>
            </a:ln>
          </p:spPr>
        </p:cxnSp>
        <p:cxnSp>
          <p:nvCxnSpPr>
            <p:cNvPr id="64" name="Google Shape;64;p14"/>
            <p:cNvCxnSpPr/>
            <p:nvPr/>
          </p:nvCxnSpPr>
          <p:spPr>
            <a:xfrm>
              <a:off x="1269525" y="2976625"/>
              <a:ext cx="2970900" cy="0"/>
            </a:xfrm>
            <a:prstGeom prst="straightConnector1">
              <a:avLst/>
            </a:prstGeom>
            <a:noFill/>
            <a:ln w="28575" cap="flat" cmpd="sng">
              <a:solidFill>
                <a:srgbClr val="FFFFFF"/>
              </a:solidFill>
              <a:prstDash val="solid"/>
              <a:round/>
              <a:headEnd type="none" w="med" len="med"/>
              <a:tailEnd type="none" w="med" len="med"/>
            </a:ln>
          </p:spPr>
        </p:cxnSp>
        <p:cxnSp>
          <p:nvCxnSpPr>
            <p:cNvPr id="65" name="Google Shape;65;p14"/>
            <p:cNvCxnSpPr/>
            <p:nvPr/>
          </p:nvCxnSpPr>
          <p:spPr>
            <a:xfrm>
              <a:off x="903063" y="3665615"/>
              <a:ext cx="3729900" cy="0"/>
            </a:xfrm>
            <a:prstGeom prst="straightConnector1">
              <a:avLst/>
            </a:prstGeom>
            <a:noFill/>
            <a:ln w="28575" cap="flat" cmpd="sng">
              <a:solidFill>
                <a:srgbClr val="FFFFFF"/>
              </a:solidFill>
              <a:prstDash val="solid"/>
              <a:round/>
              <a:headEnd type="none" w="med" len="med"/>
              <a:tailEnd type="none" w="med" len="med"/>
            </a:ln>
          </p:spPr>
        </p:cxnSp>
        <p:cxnSp>
          <p:nvCxnSpPr>
            <p:cNvPr id="66" name="Google Shape;66;p14"/>
            <p:cNvCxnSpPr/>
            <p:nvPr/>
          </p:nvCxnSpPr>
          <p:spPr>
            <a:xfrm>
              <a:off x="484250" y="4351425"/>
              <a:ext cx="4541700" cy="0"/>
            </a:xfrm>
            <a:prstGeom prst="straightConnector1">
              <a:avLst/>
            </a:prstGeom>
            <a:noFill/>
            <a:ln w="28575" cap="flat" cmpd="sng">
              <a:solidFill>
                <a:srgbClr val="FFFFFF"/>
              </a:solidFill>
              <a:prstDash val="solid"/>
              <a:round/>
              <a:headEnd type="none" w="med" len="med"/>
              <a:tailEnd type="none" w="med" len="med"/>
            </a:ln>
          </p:spPr>
        </p:cxnSp>
      </p:grpSp>
      <p:sp>
        <p:nvSpPr>
          <p:cNvPr id="67" name="Google Shape;67;p14"/>
          <p:cNvSpPr txBox="1"/>
          <p:nvPr/>
        </p:nvSpPr>
        <p:spPr>
          <a:xfrm>
            <a:off x="2424313" y="863775"/>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TTPs</a:t>
            </a:r>
            <a:endParaRPr sz="1700" b="1">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Tools</a:t>
            </a:r>
            <a:endParaRPr sz="1700" b="1">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lt1"/>
                </a:solidFill>
                <a:latin typeface="Google Sans"/>
                <a:ea typeface="Google Sans"/>
                <a:cs typeface="Google Sans"/>
                <a:sym typeface="Google Sans"/>
              </a:rPr>
              <a:t>Network/host artifacts</a:t>
            </a:r>
            <a:endParaRPr sz="1700" b="1">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Domain names</a:t>
            </a:r>
            <a:endParaRPr sz="1700" b="1">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IP addresses</a:t>
            </a:r>
            <a:endParaRPr sz="1700" b="1">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Hash values</a:t>
            </a:r>
            <a:endParaRPr sz="1700" b="1">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4" name="Google Shape;74;p14"/>
          <p:cNvSpPr/>
          <p:nvPr/>
        </p:nvSpPr>
        <p:spPr>
          <a:xfrm>
            <a:off x="4848450" y="82432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Command and Control</a:t>
            </a:r>
            <a:endParaRPr sz="1100">
              <a:solidFill>
                <a:schemeClr val="dk1"/>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6" name="Google Shape;76;p14"/>
          <p:cNvSpPr/>
          <p:nvPr/>
        </p:nvSpPr>
        <p:spPr>
          <a:xfrm>
            <a:off x="5273525" y="15394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Input capture</a:t>
            </a:r>
            <a:endParaRPr sz="1100">
              <a:solidFill>
                <a:schemeClr val="dk1"/>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8" name="Google Shape;78;p14"/>
          <p:cNvSpPr/>
          <p:nvPr/>
        </p:nvSpPr>
        <p:spPr>
          <a:xfrm>
            <a:off x="5681325" y="23090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HTTP Requests</a:t>
            </a:r>
            <a:endParaRPr sz="1100">
              <a:solidFill>
                <a:schemeClr val="dk1"/>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0" name="Google Shape;80;p14"/>
          <p:cNvSpPr/>
          <p:nvPr/>
        </p:nvSpPr>
        <p:spPr>
          <a:xfrm>
            <a:off x="6120875" y="3012486"/>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org.misecure.com</a:t>
            </a:r>
            <a:endParaRPr sz="1100">
              <a:solidFill>
                <a:schemeClr val="dk1"/>
              </a:solidFill>
              <a:latin typeface="Google Sans"/>
              <a:ea typeface="Google Sans"/>
              <a:cs typeface="Google Sans"/>
              <a:sym typeface="Google Sans"/>
            </a:endParaRPr>
          </a:p>
        </p:txBody>
      </p:sp>
      <p:cxnSp>
        <p:nvCxnSpPr>
          <p:cNvPr id="81" name="Google Shape;81;p14"/>
          <p:cNvCxnSpPr>
            <a:endCxn id="82" idx="1"/>
          </p:cNvCxnSpPr>
          <p:nvPr/>
        </p:nvCxnSpPr>
        <p:spPr>
          <a:xfrm>
            <a:off x="4835525" y="397792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2" name="Google Shape;82;p14"/>
          <p:cNvSpPr/>
          <p:nvPr/>
        </p:nvSpPr>
        <p:spPr>
          <a:xfrm>
            <a:off x="6530225" y="37158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1100">
                <a:solidFill>
                  <a:schemeClr val="dk1"/>
                </a:solidFill>
                <a:latin typeface="Google Sans"/>
                <a:ea typeface="Google Sans"/>
                <a:cs typeface="Google Sans"/>
                <a:sym typeface="Google Sans"/>
              </a:rPr>
              <a:t>207.148.109.242</a:t>
            </a:r>
            <a:endParaRPr sz="1100">
              <a:solidFill>
                <a:schemeClr val="dk1"/>
              </a:solidFill>
              <a:latin typeface="Google Sans"/>
              <a:ea typeface="Google Sans"/>
              <a:cs typeface="Google Sans"/>
              <a:sym typeface="Google Sans"/>
            </a:endParaRPr>
          </a:p>
        </p:txBody>
      </p:sp>
      <p:cxnSp>
        <p:nvCxnSpPr>
          <p:cNvPr id="83" name="Google Shape;83;p14"/>
          <p:cNvCxnSpPr/>
          <p:nvPr/>
        </p:nvCxnSpPr>
        <p:spPr>
          <a:xfrm>
            <a:off x="5211175" y="4680024"/>
            <a:ext cx="16053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4" name="Google Shape;84;p14"/>
          <p:cNvSpPr/>
          <p:nvPr/>
        </p:nvSpPr>
        <p:spPr>
          <a:xfrm>
            <a:off x="6816475" y="44179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Google Sans"/>
                <a:ea typeface="Google Sans"/>
                <a:cs typeface="Google Sans"/>
                <a:sym typeface="Google Sans"/>
              </a:rPr>
              <a:t>287d612e29b71c90aa54947313810a25</a:t>
            </a:r>
            <a:endParaRPr sz="1100">
              <a:solidFill>
                <a:schemeClr val="dk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Words>
  <Application>Microsoft Office PowerPoint</Application>
  <PresentationFormat>On-screen Show (16:9)</PresentationFormat>
  <Paragraphs>14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Roboto</vt:lpstr>
      <vt:lpstr>Arial</vt:lpstr>
      <vt:lpstr>Google Sans</vt:lpstr>
      <vt:lpstr>Simple Light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gertrude suglo</dc:creator>
  <cp:lastModifiedBy>gertrude suglo</cp:lastModifiedBy>
  <cp:revision>1</cp:revision>
  <dcterms:modified xsi:type="dcterms:W3CDTF">2023-12-20T20:42:58Z</dcterms:modified>
</cp:coreProperties>
</file>